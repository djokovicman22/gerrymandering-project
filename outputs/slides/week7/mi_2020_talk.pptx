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Detecting Outlier Maps with Ensembles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Michigan congressional plan • 2020 presidential 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Where does the enacted Michigan plan fall relative to thousands of valid alternative maps sampled under explicit neutral constraints?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4846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Not a visual intuition project</a:t>
            </a:r>
          </a:p>
          <a:p>
            <a:pPr>
              <a:defRPr sz="1700"/>
            </a:pPr>
            <a:r>
              <a:t>Not a legal verdict</a:t>
            </a:r>
          </a:p>
          <a:p>
            <a:pPr>
              <a:defRPr sz="1700"/>
            </a:pPr>
            <a:r>
              <a:t>A reproducible statistical baseline</a:t>
            </a:r>
          </a:p>
        </p:txBody>
      </p:sp>
      <p:pic>
        <p:nvPicPr>
          <p:cNvPr id="8" name="Picture 7" descr="mi_2020_signature_outlie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80060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Hypothesis and claim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A strong claim needs converging evidence, not one metric.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If the enacted plan is structurally unusual, it should fall in the tails of the sampled ensemble across multiple forms of evidence: seats, efficiency gap, mean-median, sorted districts, and robustness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Evidence required: percentile tails</a:t>
            </a:r>
          </a:p>
          <a:p>
            <a:pPr>
              <a:defRPr sz="1800"/>
            </a:pPr>
            <a:r>
              <a:t>Structure required: sorted-district deviations</a:t>
            </a:r>
          </a:p>
          <a:p>
            <a:pPr>
              <a:defRPr sz="1800"/>
            </a:pPr>
            <a:r>
              <a:t>Credibility required: diagnostics + sensitivity</a:t>
            </a:r>
          </a:p>
          <a:p>
            <a:pPr>
              <a:defRPr sz="1800"/>
            </a:pPr>
            <a:r>
              <a:t>Boundary required: explicit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Research context: where this project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/>
            </a:pPr>
            <a:r>
              <a:t>The paper is stronger when it is explicitly connected to existing computational-redistricting literature.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24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Guest et al. (2019): computational redistricting makes criteria explicit; compactness is only one possible criterion.</a:t>
            </a:r>
          </a:p>
          <a:p>
            <a:pPr>
              <a:defRPr sz="1800"/>
            </a:pPr>
            <a:r>
              <a:t>Stephanopoulos (2017): efficiency gap captures packing/cracking but causes and consequences require institutional context.</a:t>
            </a:r>
          </a:p>
          <a:p>
            <a:pPr>
              <a:defRPr sz="1800"/>
            </a:pPr>
            <a:r>
              <a:t>Kenny et al. (2023): compare enacted plans to simulated nonpartisan baselines to separate map effects from geography.</a:t>
            </a:r>
          </a:p>
          <a:p>
            <a:pPr>
              <a:defRPr sz="1800"/>
            </a:pPr>
            <a:r>
              <a:t>Bouton et al. (2024): turnout heterogeneity creates pack-crack-pack strategies ordinary metrics may miss.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Positioning: this project is a state-level, reproducible ensemble baseline—not a legal verdict, national causal estimate, or pure compactness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visual compactness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Irregular districts can come from water, boundaries, or legal constraints.</a:t>
            </a:r>
          </a:p>
          <a:p>
            <a:pPr>
              <a:defRPr sz="1800"/>
            </a:pPr>
            <a:r>
              <a:t>Compact districts can still produce partisan advantage.</a:t>
            </a:r>
          </a:p>
          <a:p>
            <a:pPr>
              <a:defRPr sz="1800"/>
            </a:pPr>
            <a:r>
              <a:t>Compactness metrics are useful diagnostics, not fairness definitions.</a:t>
            </a:r>
          </a:p>
          <a:p>
            <a:pPr>
              <a:defRPr sz="1800"/>
            </a:pPr>
            <a:r>
              <a:t>This motivates comparing enacted maps against an ensemble baseline.</a:t>
            </a:r>
          </a:p>
        </p:txBody>
      </p:sp>
      <p:pic>
        <p:nvPicPr>
          <p:cNvPr id="5" name="Picture 4" descr="boundary_resolut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2120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model: a map becomes a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Nodes = precincts / voting tabulation districts</a:t>
            </a:r>
          </a:p>
          <a:p>
            <a:pPr>
              <a:defRPr sz="1800"/>
            </a:pPr>
            <a:r>
              <a:t>Edges = shared borders using rook adjacency</a:t>
            </a:r>
          </a:p>
          <a:p>
            <a:pPr>
              <a:defRPr sz="1800"/>
            </a:pPr>
            <a:r>
              <a:t>Node attributes = population, enacted district, election votes</a:t>
            </a:r>
          </a:p>
          <a:p>
            <a:pPr>
              <a:defRPr sz="1800"/>
            </a:pPr>
            <a:r>
              <a:t>Disconnected island components repaired with documented artificial bridge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A1C1C"/>
                </a:solidFill>
              </a:defRPr>
            </a:pPr>
            <a:r>
              <a:t>Use your Week 1 dual graph map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ReCom ensemble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Start at enacted plan (step 0)</a:t>
            </a:r>
          </a:p>
          <a:p>
            <a:pPr>
              <a:defRPr sz="1800"/>
            </a:pPr>
            <a:r>
              <a:t>Merge two adjacent districts</a:t>
            </a:r>
          </a:p>
          <a:p>
            <a:pPr>
              <a:defRPr sz="1800"/>
            </a:pPr>
            <a:r>
              <a:t>Re-split with a random spanning-tree procedure</a:t>
            </a:r>
          </a:p>
          <a:p>
            <a:pPr>
              <a:defRPr sz="1800"/>
            </a:pPr>
            <a:r>
              <a:t>Accept plans satisfying population and contiguity constraints</a:t>
            </a:r>
          </a:p>
          <a:p>
            <a:pPr>
              <a:defRPr sz="1800"/>
            </a:pPr>
            <a:r>
              <a:t>Record seat count and partisan metrics at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234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Main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4805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3 independent chains</a:t>
            </a:r>
          </a:p>
          <a:p>
            <a:pPr>
              <a:defRPr sz="2200"/>
            </a:pPr>
            <a:r>
              <a:t>7,000 steps each</a:t>
            </a:r>
          </a:p>
          <a:p>
            <a:pPr>
              <a:defRPr sz="2200"/>
            </a:pPr>
            <a:r>
              <a:t>700-step burn-in removed</a:t>
            </a:r>
          </a:p>
          <a:p>
            <a:pPr>
              <a:defRPr sz="2200"/>
            </a:pPr>
            <a:r>
              <a:t>18,900 post-burn-in plans</a:t>
            </a:r>
          </a:p>
          <a:p>
            <a:pPr>
              <a:defRPr sz="2200"/>
            </a:pPr>
            <a:r>
              <a:t>2% population tolerance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Diagnostics before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A completed run is not automatically a credible ensemble.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7/16</a:t>
            </a:r>
          </a:p>
        </p:txBody>
      </p:sp>
      <p:pic>
        <p:nvPicPr>
          <p:cNvPr id="5" name="Picture 4" descr="mi_2020_production_dem_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303520" cy="4389120"/>
          </a:xfrm>
          <a:prstGeom prst="rect">
            <a:avLst/>
          </a:prstGeom>
        </p:spPr>
      </p:pic>
      <p:pic>
        <p:nvPicPr>
          <p:cNvPr id="6" name="Picture 5" descr="mi_2020_production_efficiency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Max split-Rhat: 1.030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5806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Interpretation: reassuring practical diagnostics, not proof of perfect mixing.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Main evidence: empirical percentiles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8/16</a:t>
            </a:r>
          </a:p>
        </p:txBody>
      </p:sp>
      <p:pic>
        <p:nvPicPr>
          <p:cNvPr id="4" name="Picture 3" descr="mi_2020_signature_outlie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65836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34440"/>
            <a:ext cx="42062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Democratic seats: enacted 7, percentile 92.5%</a:t>
            </a:r>
          </a:p>
          <a:p>
            <a:pPr>
              <a:defRPr sz="1600"/>
            </a:pPr>
            <a:r>
              <a:t>efficiency gap: enacted 0.003, percentile 96.1%</a:t>
            </a:r>
          </a:p>
          <a:p>
            <a:pPr>
              <a:defRPr sz="1600"/>
            </a:pPr>
            <a:r>
              <a:t>mean-median difference: enacted -0.014, percentile 93.3%</a:t>
            </a:r>
          </a:p>
          <a:p>
            <a:pPr>
              <a:defRPr sz="1600"/>
            </a:pPr>
            <a:r>
              <a:t>cut edges: enacted 681, percentile 0.0%</a:t>
            </a:r>
          </a:p>
          <a:p>
            <a:pPr>
              <a:defRPr sz="1600"/>
            </a:pPr>
            <a:r>
              <a:t>maximum population deviation: enacted 0.004, percentile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493776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Percentile = enacted plan's position inside the sampled post-burn-in ensemble, not a classical p-value.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Sorted-district plot: structure behind the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9/16</a:t>
            </a:r>
          </a:p>
        </p:txBody>
      </p:sp>
      <p:pic>
        <p:nvPicPr>
          <p:cNvPr id="4" name="Picture 3" descr="mi_2020_sorted_distr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731520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1732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Rank 2: +5.79 pp vs ensemble median</a:t>
            </a:r>
          </a:p>
          <a:p>
            <a:pPr>
              <a:defRPr sz="1500"/>
            </a:pPr>
            <a:r>
              <a:t>Rank 12: -4.65 pp vs ensemble median</a:t>
            </a:r>
          </a:p>
          <a:p>
            <a:pPr>
              <a:defRPr sz="1500"/>
            </a:pPr>
            <a:r>
              <a:t>Rank 13: -4.38 pp vs ensemble median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114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Why it matters: packing and cracking are visible as rank-level deviations, not just total seats.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Maps: statistics tied back to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10/16</a:t>
            </a:r>
          </a:p>
        </p:txBody>
      </p:sp>
      <p:pic>
        <p:nvPicPr>
          <p:cNvPr id="4" name="Picture 3" descr="mi_2020_plan_comparis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Evidence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What each result supports — and what it does not 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Democratic seats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1887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enacted 7 • percentile 92.5%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supports conditional outlier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efficiency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enacted 0.003 • percentile 96.1%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288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supports conditional outlier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mean-median difference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enacted -0.014 • percentile 93.3%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supports conditional outlier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cut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089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enacted 681 • percentile 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1089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supports conditional outlier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None of these alone proves intent or illegality. The strength comes from cumulative evidence plus limitations.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Stress test 1: population tolerance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12/16</a:t>
            </a:r>
          </a:p>
        </p:txBody>
      </p:sp>
      <p:pic>
        <p:nvPicPr>
          <p:cNvPr id="4" name="Picture 3" descr="mi_2020_constrain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5577840" cy="4754880"/>
          </a:xfrm>
          <a:prstGeom prst="rect">
            <a:avLst/>
          </a:prstGeom>
        </p:spPr>
      </p:pic>
      <p:pic>
        <p:nvPicPr>
          <p:cNvPr id="5" name="Picture 4" descr="mi_2020_constraint_percen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16636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Largest percentile movement: 7.25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Stress test 2: geography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13/16</a:t>
            </a:r>
          </a:p>
        </p:txBody>
      </p:sp>
      <p:pic>
        <p:nvPicPr>
          <p:cNvPr id="4" name="Picture 3" descr="mi_2020_geography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64922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554480"/>
            <a:ext cx="374903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Proportional benchmark: 6.68 Democratic seats</a:t>
            </a:r>
          </a:p>
          <a:p>
            <a:pPr>
              <a:defRPr sz="1900"/>
            </a:pPr>
            <a:r>
              <a:t>Ensemble mean: 5.71 Democratic seats</a:t>
            </a:r>
          </a:p>
          <a:p>
            <a:pPr>
              <a:defRPr sz="1900"/>
            </a:pPr>
            <a:r>
              <a:t>Enacted: 7 Democratic seats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42062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This avoids the weak argument that any disproportionality equals gerrymandering.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the paper can and cannot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Supported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Empirical outlier status relative to sampled ensemble</a:t>
            </a:r>
          </a:p>
          <a:p>
            <a:pPr>
              <a:defRPr sz="1700"/>
            </a:pPr>
            <a:r>
              <a:t>Transparent assumptions and constraints</a:t>
            </a:r>
          </a:p>
          <a:p>
            <a:pPr>
              <a:defRPr sz="1700"/>
            </a:pPr>
            <a:r>
              <a:t>Practical multi-chain diagnostics</a:t>
            </a:r>
          </a:p>
          <a:p>
            <a:pPr>
              <a:defRPr sz="1700"/>
            </a:pPr>
            <a:r>
              <a:t>Robustness checks across tolerances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Not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5720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Legal conclusion</a:t>
            </a:r>
          </a:p>
          <a:p>
            <a:pPr>
              <a:defRPr sz="1700"/>
            </a:pPr>
            <a:r>
              <a:t>Proof of intent</a:t>
            </a:r>
          </a:p>
          <a:p>
            <a:pPr>
              <a:defRPr sz="1700"/>
            </a:pPr>
            <a:r>
              <a:t>Proof of perfect mixing</a:t>
            </a:r>
          </a:p>
          <a:p>
            <a:pPr>
              <a:defRPr sz="1700"/>
            </a:pPr>
            <a:r>
              <a:t>Full modeling of every legal criterion</a:t>
            </a:r>
          </a:p>
          <a:p>
            <a:pPr>
              <a:defRPr sz="1700"/>
            </a:pPr>
            <a:r>
              <a:t>A universal result across all elections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Strongest counterargument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The ensemble may not represent every legally realistic plan because it does not fully encode Voting Rights Act compliance, communities of interest, county splits, incumbency, or every state-specific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Response: disclose constraints instead of hiding them</a:t>
            </a:r>
          </a:p>
          <a:p>
            <a:pPr>
              <a:defRPr sz="1900"/>
            </a:pPr>
            <a:r>
              <a:t>Run sensitivity tests</a:t>
            </a:r>
          </a:p>
          <a:p>
            <a:pPr>
              <a:defRPr sz="1900"/>
            </a:pPr>
            <a:r>
              <a:t>Avoid claims about intent or legality</a:t>
            </a:r>
          </a:p>
          <a:p>
            <a:pPr>
              <a:defRPr sz="1900"/>
            </a:pPr>
            <a:r>
              <a:t>Treat this as measurement evidence, not a verdict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</a:defRPr>
            </a:pPr>
            <a:r>
              <a:t>16/16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Under the stated graph, data, ReCom proposal, burn-in, population constraints, and 2020 presidential election scoring data, the enacted Michigan plan falls at the reported empirical percentiles of the sampled ensemble.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9875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This is stronger than visual intuition.</a:t>
            </a:r>
          </a:p>
          <a:p>
            <a:pPr>
              <a:defRPr sz="2100"/>
            </a:pPr>
            <a:r>
              <a:t>It is more honest than a single metric.</a:t>
            </a:r>
          </a:p>
          <a:p>
            <a:pPr>
              <a:defRPr sz="2100"/>
            </a:pPr>
            <a:r>
              <a:t>It becomes persuasive because assumptions, diagnostics, and limitations are explicit.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